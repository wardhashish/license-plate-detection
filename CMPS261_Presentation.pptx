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0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09728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License Plate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37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B4D8"/>
                </a:solidFill>
              </a:rPr>
              <a:t>Comparing YOLOv8s · RetinaNet · Faster R-CNN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CMPS 261 — Machine Learning  |  American University of Beirut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What are we solving and why does it matter?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94960" cy="51206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943600" cy="51206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The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Given an image of a vehicle, automatically locate the licence plate and draw a bounding box around it — without any human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Traffic law enforcement &amp; speed cameras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Automated parking &amp; toll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628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Vehicle tracking and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3834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Foundation for full OCR pipelines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Our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659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Train and compare three object detection architectures on the same dataset to find which best balances accuracy and speed for this specific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Key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11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Plates vary in size, angle, lighting &amp; distance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087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Small dataset — only 433 labelled 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5628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Need high precision (no false boxes) AND recall (miss nothing)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383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Must generalise to unseen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Car Plate Detection — Kaggle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51760" cy="118872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65176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433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Total Images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82112" y="1371600"/>
            <a:ext cx="2651760" cy="118872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82112" y="1371600"/>
            <a:ext cx="2651760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303  (70%)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057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Train Split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371600"/>
            <a:ext cx="2651760" cy="118872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371600"/>
            <a:ext cx="2651760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64   (15%)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057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Val Split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371600"/>
            <a:ext cx="2651760" cy="118872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97696" y="1371600"/>
            <a:ext cx="26517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1508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66   (15%)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20574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Test Split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43200"/>
            <a:ext cx="5394960" cy="365760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Preprocessing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291840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2735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Download VOC XML annotations from Kaggle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22191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822191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80390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Parse each XML → extract bounding box (xmin,ymin,xmax,ymax)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352544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4352544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33425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Convert to YOLO format: normalised cx, cy, w, h  ∈ [0,1]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82896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4882896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86460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Random 70/15/15 stratified split → train / val / test folders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13248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413248"/>
            <a:ext cx="256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394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All models trained on the same split for fair comparison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2743200"/>
            <a:ext cx="5943600" cy="365760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834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Data Augmentation (Training only)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2461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Augmentation artificially expands the dataset and forces the model to generalise — e.g. detecting plates on the right side of a car even if only trained on left-side examples.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41148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Horizontal flip  (50% chance)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59028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Colour jitter — brightness, contrast, saturation, hue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06577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Random scale  (75–100% of original size)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54126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Random crop  (85–100%) then resize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How we trained and evaluated each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12880" cy="160020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109728" cy="1600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YOLOv8s  —  Single-stage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Divides image into grid cells. Each cell predicts boxes + class scores in one pass. Uses anchor-free design and built-in augmentation (mosaic, mixup).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417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CCCC"/>
                </a:solidFill>
              </a:rPr>
              <a:t>Why chosen: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8308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Fastest inference. Best baseline for small datasets. State-of-the-art single-stage detector.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39"/>
            <a:ext cx="11612880" cy="160020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3063239"/>
            <a:ext cx="109728" cy="1600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15467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C653"/>
                </a:solidFill>
              </a:rPr>
              <a:t>RetinaNet  —  Single-stage + Focal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66159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FPN extracts features at multiple scales. Focal Loss down-weights easy background examples so the model focuses on hard detections. Two-phase training: freeze backbone → fine-tune 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15467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CCCC"/>
                </a:solidFill>
              </a:rPr>
              <a:t>Why chosen: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520439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Handles class imbalance (many background boxes, few plates). Good accuracy with moderate speed.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11612880" cy="160020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800600"/>
            <a:ext cx="109728" cy="16002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92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C300"/>
                </a:solidFill>
              </a:rPr>
              <a:t>Faster R-CNN  —  Two-stage detector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035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Stage 1 — Region Proposal Network (RPN) proposes candidate regions. Stage 2 — each proposal is classified and refined by the detection head. Most thorough but slowest.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8920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CCCC"/>
                </a:solidFill>
              </a:rPr>
              <a:t>Why chosen: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25780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Strong baseline. Best for high-accuracy scenarios where speed is not critical.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Training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Hyperparameters and training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325880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325880"/>
            <a:ext cx="251460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YOLOv8s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0" y="1325880"/>
            <a:ext cx="342900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371600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RetinaNet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325880"/>
            <a:ext cx="2697480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371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Faster R-CNN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64792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1051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Backbone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764792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181051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CSPDarknet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1764792"/>
            <a:ext cx="34290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810512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ResNet50-FPN v2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764792"/>
            <a:ext cx="269748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ResNet50-FPN v2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203704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24942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Pretrained 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203704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2249424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2203704"/>
            <a:ext cx="34290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224942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203704"/>
            <a:ext cx="269748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2494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642615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688335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Optimiser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642615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2688335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AdamW (built-in)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642615"/>
            <a:ext cx="34290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2688335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AdamW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2642615"/>
            <a:ext cx="269748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68833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SGD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081528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12724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Learning rate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3081528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312724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40680" y="3081528"/>
            <a:ext cx="34290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32120" y="312724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1e-3 → 1e-4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3081528"/>
            <a:ext cx="269748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31272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0.005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520439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3566159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LR schedule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40" y="3520439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0" y="3566159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cosine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3520439"/>
            <a:ext cx="34290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2120" y="3566159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Cosine (phase 2)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3520439"/>
            <a:ext cx="269748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356615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StepLR ÷2 / 10ep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3959352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00507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Epochs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34640" y="3959352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26080" y="4005072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0680" y="3959352"/>
            <a:ext cx="34290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4005072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Phase1: 40, Phase2: 80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0" y="3959352"/>
            <a:ext cx="269748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5256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28600" y="4398264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0040" y="4443983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Batch size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" y="4398264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26080" y="4443983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0680" y="4398264"/>
            <a:ext cx="34290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32120" y="4443983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4398264"/>
            <a:ext cx="269748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444398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4837176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488289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Early stopping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34640" y="4837176"/>
            <a:ext cx="25146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26080" y="4882896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40680" y="4837176"/>
            <a:ext cx="342900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32120" y="4882896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Val F1 patience 15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61120" y="4837176"/>
            <a:ext cx="2697480" cy="438912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052560" y="48828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Val loss patience 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5276088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" y="532180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Threshold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4640" y="5276088"/>
            <a:ext cx="25146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926080" y="5321808"/>
            <a:ext cx="2377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0.25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5276088"/>
            <a:ext cx="342900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32120" y="532180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0.45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61120" y="5276088"/>
            <a:ext cx="2697480" cy="438912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52560" y="5321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0.50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How we measure detection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224028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659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Of all boxes the model drew, what fraction actually contained a plate?
High precision = few false alarms.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3154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YOLO / Retina / FRCNN:  0.918 / 0.867 / 0.873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749039" cy="224028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749039" cy="73152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C653"/>
                </a:solidFill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9659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Of all real plates in the images, what fraction did the model find?
High recall = nothing missed.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154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YOLO / Retina / FRCNN:  0.916 / 0.916 / 0.873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49039" cy="224028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749039" cy="7315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C300"/>
                </a:solidFill>
              </a:rPr>
              <a:t>F1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96596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Harmonic mean of Precision and Recall. The single best summary metric — balances both. F1 = 2·P·R / (P+R).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154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YOLO / Retina / FRCNN:  0.917 / 0.890 / 0.873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840480"/>
            <a:ext cx="3749039" cy="224028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0200" y="3840480"/>
            <a:ext cx="3749039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977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</a:rPr>
              <a:t>IoU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348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Intersection over Union — how much does the predicted box overlap with the ground-truth box? A prediction counts as correct only if IoU ≥ 0.5.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YOLO / Retina / FRCNN:  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3840480"/>
            <a:ext cx="3749039" cy="224028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32120" y="3840480"/>
            <a:ext cx="3749039" cy="73152"/>
          </a:xfrm>
          <a:prstGeom prst="rect">
            <a:avLst/>
          </a:prstGeom>
          <a:solidFill>
            <a:srgbClr val="A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9776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A80FF"/>
                </a:solidFill>
              </a:rPr>
              <a:t>mAP@0.5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43484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Mean Average Precision at IoU threshold 0.5. Sweeps all confidence thresholds and averages precision. YOLO reports this natively; our custom eval reports F1.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623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YOLO / Retina / FRCNN:  0.947 / — /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Test set evaluation — 66 unseen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1371600"/>
            <a:ext cx="16459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46304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Precision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79" y="1371600"/>
            <a:ext cx="16459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19" y="146304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19" y="1371600"/>
            <a:ext cx="16459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46304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F1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16459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mAP@0.5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29800" y="1371600"/>
            <a:ext cx="1645920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463040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Mean IoU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38528"/>
            <a:ext cx="2743200" cy="566928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29968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B4D8"/>
                </a:solidFill>
              </a:rPr>
              <a:t>YOLOv8s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39" y="1938528"/>
            <a:ext cx="1645920" cy="566928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79" y="202996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DC653"/>
                </a:solidFill>
              </a:rPr>
              <a:t>0.9182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79" y="1938528"/>
            <a:ext cx="1645920" cy="566928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19" y="202996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DC653"/>
                </a:solidFill>
              </a:rPr>
              <a:t>0.9155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19" y="1938528"/>
            <a:ext cx="1645920" cy="566928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59" y="202996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DC653"/>
                </a:solidFill>
              </a:rPr>
              <a:t>0.9169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938528"/>
            <a:ext cx="1645920" cy="566928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02996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DC653"/>
                </a:solidFill>
              </a:rPr>
              <a:t>0.9467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1938528"/>
            <a:ext cx="1645920" cy="566928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029968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05456"/>
            <a:ext cx="2743200" cy="566928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596896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B4D8"/>
                </a:solidFill>
              </a:rPr>
              <a:t>RetinaNet (ResNet50)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39" y="2505456"/>
            <a:ext cx="1645920" cy="566928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79" y="259689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0.8667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79" y="2505456"/>
            <a:ext cx="1645920" cy="566928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19" y="259689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0.9155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19" y="2505456"/>
            <a:ext cx="1645920" cy="566928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259689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0.8904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505456"/>
            <a:ext cx="1645920" cy="566928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59689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29800" y="2505456"/>
            <a:ext cx="1645920" cy="566928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2596896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0.7823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072384"/>
            <a:ext cx="2743200" cy="566928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163824"/>
            <a:ext cx="2560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0B4D8"/>
                </a:solidFill>
              </a:rPr>
              <a:t>Faster R-CNN (R50)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39" y="3072384"/>
            <a:ext cx="1645920" cy="566928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54679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0.8732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79" y="3072384"/>
            <a:ext cx="1645920" cy="566928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19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0.8732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19" y="3072384"/>
            <a:ext cx="1645920" cy="566928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59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0.8732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3072384"/>
            <a:ext cx="1645920" cy="566928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3072384"/>
            <a:ext cx="1645920" cy="566928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3163824"/>
            <a:ext cx="14630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0.7839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160520"/>
            <a:ext cx="5394960" cy="2377440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4160520"/>
            <a:ext cx="539496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DC653"/>
                </a:solidFill>
              </a:rPr>
              <a:t>Winner: YOLOv8s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Best F1 (+2.7% over RetinaNet, +4.4% over Faster R-CNN)
• Only model reporting mAP@0.5 = 0.9467
• Fastest inference — real-time capable
• Smallest weights — 21 MB vs 139–165 MB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4160520"/>
            <a:ext cx="5943600" cy="23774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43600" y="4160520"/>
            <a:ext cx="5943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B4D8"/>
                </a:solidFill>
              </a:rPr>
              <a:t>Ranking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47548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1st  YOLOv8s       F1 = 0.9169
2nd  RetinaNet      F1 = 0.8904
3rd  Faster R-CNN  F1 = 0.8732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Why did YOLOv8s win? What do the numbers tell us?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669280" cy="21488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Single-stage vs Two-stage on small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96596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Faster R-CNN's two-stage pipeline (propose → classify) is designed for large, complex datasets. With only 303 training images it cannot fully benefit from the RPN stage. YOLOv8's end-to-end single pass is more data-efficient.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669280" cy="21488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66928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C653"/>
                </a:solidFill>
              </a:rPr>
              <a:t>Built-in augmentation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YOLOv8 applies mosaic and mixup augmentation internally during training — effectively multiplying the dataset. Our manual augmentation for R-CNN and RetinaNet was strong but not as aggressive.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5669280" cy="21488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566928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886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300"/>
                </a:solidFill>
              </a:rPr>
              <a:t>Focal loss helped RetinaNet beat Faster R-CNN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34340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RetinaNet's focal loss down-weights the loss from easy background patches. This is crucial here — most of each image is background, not plate. It explains why RetinaNet (F1=0.890) outperformed Faster R-CNN (F1=0.873) despite similar architectures.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5669280" cy="21488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566928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886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6B"/>
                </a:solidFill>
              </a:rPr>
              <a:t>Val F1 early stopping was the key RetinaNet fix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343400"/>
            <a:ext cx="5394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Early RetinaNet runs used val loss for early stopping — but val loss plateaued while F1 was still improving. Switching to val-F1 early stopping raised RetinaNet from F1=0.832 to F1=0.890. Loss is not always the right proxy metric.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5394960"/>
            <a:ext cx="5852160" cy="12344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5394960"/>
            <a:ext cx="5852160" cy="64008"/>
          </a:xfrm>
          <a:prstGeom prst="rect">
            <a:avLst/>
          </a:prstGeom>
          <a:solidFill>
            <a:srgbClr val="A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55321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A80FF"/>
                </a:solidFill>
              </a:rPr>
              <a:t>Precision = Recall for Faster R-CNN — why?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9893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When P = R = F1 = 0.8732, it means the model made exactly as many false positives as false negatives. This is a coincidence of the specific threshold (0.5) chosen — not a sign of a perfect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D1B2A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What we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7498079" cy="512064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• YOLOv8s is the best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   Highest F1 (0.917), fastest, smallest — the go-to for real-world deployment on this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16352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• Architecture matters more than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36391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   YOLOv8s with default settings outperformed heavily tuned R-CNN and RetinaNet — the right architecture for the data size wins.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21024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• Focal loss &gt; two-stage for small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41063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   RetinaNet beating Faster R-CNN confirms that handling class imbalance (focal loss) is more important than proposal refinement (RPN) on 433 images.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2569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• Metric choice during training affects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4573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   Using val F1 (not val loss) for early stopping was critical for RetinaNet — a lesson applicable to any detection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3036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• All three models work reliably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5040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F4FF"/>
                </a:solidFill>
              </a:rPr>
              <a:t>   Even the lowest scorer (F1=0.873) correctly detects plates in the vast majority of test images — deep learning works well for this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371600"/>
            <a:ext cx="3840480" cy="2377440"/>
          </a:xfrm>
          <a:prstGeom prst="rect">
            <a:avLst/>
          </a:prstGeom>
          <a:solidFill>
            <a:srgbClr val="062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3840480" cy="6400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DC653"/>
                </a:solidFill>
              </a:rPr>
              <a:t>Final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YOLOv8s        0.9169
RetinaNet      0.8904
Faster R-CNN   0.8732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931920"/>
            <a:ext cx="3840480" cy="2560320"/>
          </a:xfrm>
          <a:prstGeom prst="rect">
            <a:avLst/>
          </a:prstGeom>
          <a:solidFill>
            <a:srgbClr val="08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931920"/>
            <a:ext cx="38404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4069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D8"/>
                </a:solidFill>
              </a:rPr>
              <a:t>Future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720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OCR on detected plates
• Larger dataset (1000+ images)
• Model quantization for mobile
• Video stream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0B4D8"/>
                </a:solidFill>
              </a:rPr>
              <a:t>streamlit run app.py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0F4FF"/>
                </a:solidFill>
              </a:rPr>
              <a:t>Upload any car photo → choose model → see the detected 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github.com/wardhashish/license-plate-detection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